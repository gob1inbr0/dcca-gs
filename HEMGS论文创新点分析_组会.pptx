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Context-GS</c:v>
                </c:pt>
              </c:strCache>
            </c:strRef>
          </c:tx>
          <c:spPr>
            <a:solidFill>
              <a:srgbClr val="7CD4C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Hiragino Sans GB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Mip-NeRF360</c:v>
                  </c:pt>
                  <c:pt idx="1">
                    <c:v>DeepBlending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66.47</c:v>
                </c:pt>
                <c:pt idx="1">
                  <c:v>42.03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HAC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Hiragino Sans GB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Mip-NeRF360</c:v>
                  </c:pt>
                  <c:pt idx="1">
                    <c:v>DeepBlending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52.52</c:v>
                </c:pt>
                <c:pt idx="1">
                  <c:v>82.85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Hiragino Sans GB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Hiragino Sans GB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</c:scaling>
        <c:delete val="0"/>
        <c:axPos val="l"/>
        <c:majorGridlines>
          <c:spPr>
            <a:ln w="6350" cap="flat">
              <a:solidFill>
                <a:srgbClr val="E5EE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Hiragino Sans GB"/>
              </a:defRPr>
            </a:pPr>
            <a:endParaRPr lang="en-US"/>
          </a:p>
        </c:txPr>
        <c:crossAx val="2094734554"/>
        <c:crosses val="autoZero"/>
        <c:crossBetween val="between"/>
        <c:majorUnit val="3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4748B"/>
              </a:solidFill>
              <a:latin typeface="Hiragino Sans GB"/>
              <a:cs typeface="Hiragino Sans GB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MB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50" u="none">
                    <a:solidFill>
                      <a:srgbClr val="1F2937"/>
                    </a:solidFill>
                    <a:latin typeface="Hiragino Sans GB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完整版</c:v>
                  </c:pt>
                  <c:pt idx="1">
                    <c:v>去场景无关网络</c:v>
                  </c:pt>
                  <c:pt idx="2">
                    <c:v>再去自回归网络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3.31</c:v>
                </c:pt>
                <c:pt idx="1">
                  <c:v>3.54</c:v>
                </c:pt>
                <c:pt idx="2">
                  <c:v>4.11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50" u="none">
                  <a:solidFill>
                    <a:srgbClr val="1F2937"/>
                  </a:solidFill>
                  <a:latin typeface="Hiragino Sans GB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Hiragino Sans GB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5"/>
        </c:scaling>
        <c:delete val="0"/>
        <c:axPos val="l"/>
        <c:majorGridlines>
          <c:spPr>
            <a:ln w="6350" cap="flat">
              <a:solidFill>
                <a:srgbClr val="E5EE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Hiragino Sans GB"/>
              </a:defRPr>
            </a:pPr>
            <a:endParaRPr lang="en-US"/>
          </a:p>
        </c:txPr>
        <c:crossAx val="2094734554"/>
        <c:crosses val="autoZero"/>
        <c:crossBetween val="between"/>
        <c:majorUnit val="1.5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Context-GS</c:v>
                </c:pt>
              </c:strCache>
            </c:strRef>
          </c:tx>
          <c:spPr>
            <a:solidFill>
              <a:srgbClr val="7CD4C5"/>
            </a:solidFill>
            <a:ln w="31750" cap="flat">
              <a:solidFill>
                <a:srgbClr val="7CD4C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D4C5"/>
              </a:solidFill>
              <a:ln w="9525" cap="flat">
                <a:solidFill>
                  <a:srgbClr val="7CD4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40</c:v>
                </c:pt>
                <c:pt idx="4">
                  <c:v>80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HAC</c:v>
                </c:pt>
              </c:strCache>
            </c:strRef>
          </c:tx>
          <c:spPr>
            <a:solidFill>
              <a:srgbClr val="0F766E"/>
            </a:solidFill>
            <a:ln w="31750" cap="flat">
              <a:solidFill>
                <a:srgbClr val="0F76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766E"/>
              </a:solidFill>
              <a:ln w="9525" cap="flat">
                <a:solidFill>
                  <a:srgbClr val="0F76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HEMGS（单模型）</c:v>
                </c:pt>
              </c:strCache>
            </c:strRef>
          </c:tx>
          <c:spPr>
            <a:solidFill>
              <a:srgbClr val="E8590C"/>
            </a:solidFill>
            <a:ln w="31750" cap="flat">
              <a:solidFill>
                <a:srgbClr val="E859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590C"/>
              </a:solidFill>
              <a:ln w="9525" cap="flat">
                <a:solidFill>
                  <a:srgbClr val="E859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16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4748B"/>
                    </a:solidFill>
                    <a:latin typeface="Hiragino Sans GB"/>
                  </a:defRPr>
                </a:pPr>
                <a:r>
                  <a:rPr sz="1200" b="0" i="0" u="none" strike="noStrike">
                    <a:solidFill>
                      <a:srgbClr val="64748B"/>
                    </a:solidFill>
                    <a:latin typeface="Hiragino Sans GB"/>
                  </a:rPr>
                  <a:t>码点数 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Hiragino Sans GB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6350" cap="flat">
              <a:solidFill>
                <a:srgbClr val="E5EE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4748B"/>
                    </a:solidFill>
                    <a:latin typeface="Hiragino Sans GB"/>
                  </a:defRPr>
                </a:pPr>
                <a:r>
                  <a:rPr sz="1200" b="0" i="0" u="none" strike="noStrike">
                    <a:solidFill>
                      <a:srgbClr val="64748B"/>
                    </a:solidFill>
                    <a:latin typeface="Hiragino Sans GB"/>
                  </a:rPr>
                  <a:t>训练时间（小时）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Hiragino Sans GB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4748B"/>
              </a:solidFill>
              <a:latin typeface="Hiragino Sans GB"/>
              <a:cs typeface="Hiragino Sans GB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开场：这篇是 HAC、Context-GS 之后的下一代锚点压缩工作，重点看它的三个创新点分别解决什么问题、贡献多大、对我们课题有什么用。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先讲两个痛点：多码率等于多模型，是训练和存储的开销问题；无损端是模型设计问题。强调这是锚点路线（Scaffold-GS、HAC、Context-GS 一脉）的延续。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核心：λ 从训练超参变成网络输入。注意 λ 既做输入也进损失加权，一次训练混 4 个值。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场景无关路是冻结的预训练模型，不占每个场景的存储预算——这是它便宜的原因。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 5×5×5 只抓到 0.43 个锚点的失败案例，说明为什么 NIC 的固定感受野必须改成自适应。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这张图回答『三个模块什么关系』：有损一条线、无损一条线；三块冗余各归一个模块管。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BDBR 是全码点平均，所以 DeepBlending 上对 HAC +82.85% 与单点 39.34% 不矛盾。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指出交叉点：N=2 起双赢；N=1 时 HAC 模型更小，诚实说明适用范围。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定位为组合式创新；强调 ACS 是最针对 3DGS 的部分；指出未报编解码时间这个缺口。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结合我们分支的码率感知方向：卖点可以对齐「一个模型多码点」；场景无关先验可先做快速验证。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640080"/>
            <a:ext cx="2560320" cy="2560320"/>
          </a:xfrm>
          <a:prstGeom prst="ellipse">
            <a:avLst/>
          </a:prstGeom>
          <a:solidFill>
            <a:srgbClr val="0F766E">
              <a:alpha val="2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332720" y="1828800"/>
            <a:ext cx="2926080" cy="2926080"/>
          </a:xfrm>
          <a:prstGeom prst="ellipse">
            <a:avLst/>
          </a:prstGeom>
          <a:solidFill>
            <a:srgbClr val="0D9488">
              <a:alpha val="22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692640" y="3566160"/>
            <a:ext cx="1463040" cy="1463040"/>
          </a:xfrm>
          <a:prstGeom prst="ellipse">
            <a:avLst/>
          </a:prstGeom>
          <a:solidFill>
            <a:srgbClr val="5EEAD4">
              <a:alpha val="30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052560" y="4480560"/>
            <a:ext cx="2011680" cy="2011680"/>
          </a:xfrm>
          <a:prstGeom prst="ellipse">
            <a:avLst/>
          </a:prstGeom>
          <a:solidFill>
            <a:srgbClr val="0F766E">
              <a:alpha val="20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881360" y="4846320"/>
            <a:ext cx="1005840" cy="1005840"/>
          </a:xfrm>
          <a:prstGeom prst="ellipse">
            <a:avLst/>
          </a:prstGeom>
          <a:solidFill>
            <a:srgbClr val="5EEAD4">
              <a:alpha val="24000"/>
            </a:srgbClr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247120" y="320040"/>
            <a:ext cx="822960" cy="822960"/>
          </a:xfrm>
          <a:prstGeom prst="ellipse">
            <a:avLst/>
          </a:prstGeom>
          <a:solidFill>
            <a:srgbClr val="E8590C">
              <a:alpha val="50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11155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组会论文研读 · 创新点分析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572768"/>
            <a:ext cx="8595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HEMGS：用混合熵模型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压缩 3D 高斯泼溅（3DGS）数据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48640" y="340156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C2B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一个模型覆盖多码率 · 无损端分布估计更准 · 四个基准平均再省约 40% 存储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51663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2B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Lei Liu（香港大学）· Zhenghao Chen（纽卡斯尔大学）· Wei Jiang / Wei Wang（Futurewei）· Dong Xu（香港大学）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55595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2B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arXiv 2411.18473v2 · 2025 年 4 月　·　组会汇报 · 2026 年 9 月 13 日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766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论文背景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要解决的问题：多码率要训多个模型，熵模型还没用足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HEMGS 论文研读 · 创新点分析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17352" y="64739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6492240" cy="914400"/>
          </a:xfrm>
          <a:prstGeom prst="roundRect">
            <a:avLst>
              <a:gd name="adj" fmla="val 7000"/>
            </a:avLst>
          </a:prstGeom>
          <a:solidFill>
            <a:srgbClr val="F3F6F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1481328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基础设定　</a:t>
            </a:r>
            <a:r>
              <a:rPr lang="en-US" sz="130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在锚点（anchor，代表一组高斯的代理点）结构上压缩：每个锚点存位置、局部特征、缩放、偏移。HAC、Context-GS 已把存储压到很低。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问题一 · 一个码率一套模型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072384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码率由训练时的超参 λ 决定，每换一个 λ 就要重训一个模型：要 16 个码点（rate point）就训 16 次、存 16 份模型，开销随码点数线性涨。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问题二 · 无损端还有余地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4489704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先验只有场景特定一路（每个场景自己过拟合自己）；自回归（autoregressive）上下文的感受野固定，碰到 3D 锚点这种稀疏、疏密不均的数据，抓不到有效上下文。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53212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论文定位：Scaffold-GS → HAC / Context-GS 这条锚点压缩路线的下一步。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0" y="1481328"/>
            <a:ext cx="4325112" cy="4526280"/>
          </a:xfrm>
          <a:prstGeom prst="roundRect">
            <a:avLst>
              <a:gd name="adj" fmla="val 1480"/>
            </a:avLst>
          </a:prstGeom>
          <a:solidFill>
            <a:srgbClr val="EDF7F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589520" y="1691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论文的回答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89520" y="207568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熵模型（entropy model）：给算术编码估计每个数的概率分布——估得越准，码流越短。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89520" y="28803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HEMGS 的两条分工线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589520" y="3218688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有损端：变码率预测器——λ 变成网络输入，单模型覆盖多码率</a:t>
            </a:r>
            <a:endParaRPr lang="en-US" sz="1280" dirty="0"/>
          </a:p>
          <a:p>
            <a:pPr marL="152400" indent="-1524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无损端：双路超先验（hyperprior）+ 自适应上下文，分布估得更准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7589520" y="44348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590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≈40%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7589520" y="5285232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同等画质下对 HAC 的平均存储节省（四个基准）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766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方法总览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整体框架：渐进编码——先位置、再特征、最后缩放和偏移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HEMGS 论文研读 · 创新点分析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17352" y="64739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587752" cy="1828800"/>
          </a:xfrm>
          <a:prstGeom prst="roundRect">
            <a:avLst>
              <a:gd name="adj" fmla="val 3500"/>
            </a:avLst>
          </a:prstGeom>
          <a:solidFill>
            <a:srgbClr val="F3F6F8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31520" y="194767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位置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31520" y="2724912"/>
            <a:ext cx="2221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16 比特量化，直接无损写进码流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63824" y="2697480"/>
            <a:ext cx="219456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383280" y="1783080"/>
            <a:ext cx="2587752" cy="1828800"/>
          </a:xfrm>
          <a:prstGeom prst="roundRect">
            <a:avLst>
              <a:gd name="adj" fmla="val 3500"/>
            </a:avLst>
          </a:prstGeom>
          <a:solidFill>
            <a:srgbClr val="F3F6F8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566160" y="194767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566160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2377440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局部特征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566160" y="2724912"/>
            <a:ext cx="2221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λ 与已解码位置生成量化步长；量化后以位置为先验做熵编码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98464" y="2697480"/>
            <a:ext cx="219456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217920" y="1783080"/>
            <a:ext cx="2587752" cy="1828800"/>
          </a:xfrm>
          <a:prstGeom prst="roundRect">
            <a:avLst>
              <a:gd name="adj" fmla="val 3500"/>
            </a:avLst>
          </a:prstGeom>
          <a:solidFill>
            <a:srgbClr val="F3F6F8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400800" y="194767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0800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377440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缩放 + 偏移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00800" y="2724912"/>
            <a:ext cx="2221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两组拼在一起压缩；先验升级为已解码位置 + 已解码局部特征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833104" y="2697480"/>
            <a:ext cx="219456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052560" y="1783080"/>
            <a:ext cx="2587752" cy="1828800"/>
          </a:xfrm>
          <a:prstGeom prst="roundRect">
            <a:avLst>
              <a:gd name="adj" fmla="val 3500"/>
            </a:avLst>
          </a:prstGeom>
          <a:solidFill>
            <a:srgbClr val="F3F6F8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235440" y="194767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235440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35440" y="2377440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渲染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235440" y="2724912"/>
            <a:ext cx="2221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压缩后的锚点照常送入 Scaffold-GS，渲染任意新视角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3840480"/>
            <a:ext cx="11091672" cy="822960"/>
          </a:xfrm>
          <a:prstGeom prst="roundRect">
            <a:avLst>
              <a:gd name="adj" fmla="val 7778"/>
            </a:avLst>
          </a:prstGeom>
          <a:solidFill>
            <a:srgbClr val="EDF7F4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77240" y="38404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为什么按这个顺序：</a:t>
            </a:r>
            <a:r>
              <a:rPr lang="en-US" sz="135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先解出来的内容给后面当先验，属性之间的冗余一层层剥掉；解码端也按同样顺序逐段还原。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48640" y="4892040"/>
            <a:ext cx="5449824" cy="1051560"/>
          </a:xfrm>
          <a:prstGeom prst="roundRect">
            <a:avLst>
              <a:gd name="adj" fmla="val 6087"/>
            </a:avLst>
          </a:prstGeom>
          <a:solidFill>
            <a:srgbClr val="F3F6F8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77240" y="50292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有损端 · 决定丢多少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240" y="535838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量化步长由 λ 学出来：λ 大 → 步长大 → 量化粗 → 存储小。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190488" y="4892040"/>
            <a:ext cx="5449824" cy="1051560"/>
          </a:xfrm>
          <a:prstGeom prst="roundRect">
            <a:avLst>
              <a:gd name="adj" fmla="val 6087"/>
            </a:avLst>
          </a:prstGeom>
          <a:solidFill>
            <a:srgbClr val="F3F6F8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419088" y="50292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无损端 · 决定每个数花几个比特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19088" y="535838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先验 + 上下文 → 估计分布 → 算术编码（arithmetic coding）。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48640" y="61264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框架对应论文图 1。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164592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CDE9E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en-US" sz="10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766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创新点 1 · 变码率预测器（variable-rate predictor）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把码率超参 λ 从「训练前定死」变成「网络输入」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HEMGS 论文研读 · 创新点分析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817352" y="64739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4846320" cy="640080"/>
          </a:xfrm>
          <a:prstGeom prst="roundRect">
            <a:avLst>
              <a:gd name="adj" fmla="val 10000"/>
            </a:avLst>
          </a:prstGeom>
          <a:solidFill>
            <a:srgbClr val="F3F6F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1920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输入：码率超参 λ（复制对齐特征维度）＋ 先验特征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971800" y="2587752"/>
            <a:ext cx="0" cy="18288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48640" y="2798064"/>
            <a:ext cx="4846320" cy="566928"/>
          </a:xfrm>
          <a:prstGeom prst="roundRect">
            <a:avLst>
              <a:gd name="adj" fmla="val 11290"/>
            </a:avLst>
          </a:prstGeom>
          <a:solidFill>
            <a:srgbClr val="F3F6F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5800" y="279806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拼接 → 2 层 MLP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971800" y="3392424"/>
            <a:ext cx="0" cy="18288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48640" y="3602736"/>
            <a:ext cx="4846320" cy="594360"/>
          </a:xfrm>
          <a:prstGeom prst="roundRect">
            <a:avLst>
              <a:gd name="adj" fmla="val 10769"/>
            </a:avLst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85800" y="360273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学习到的量化步长 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971800" y="4224528"/>
            <a:ext cx="0" cy="18288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48640" y="4434840"/>
            <a:ext cx="4846320" cy="685800"/>
          </a:xfrm>
          <a:prstGeom prst="roundRect">
            <a:avLst>
              <a:gd name="adj" fmla="val 9333"/>
            </a:avLst>
          </a:prstGeom>
          <a:solidFill>
            <a:srgbClr val="F3F6F8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85800" y="44348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自适应量化：输出 = Round( f / s ) × 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349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解码端按同样方式算出 s，再逐段还原。对应论文 3.3.1 节。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52160" y="1828800"/>
            <a:ext cx="57881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λ 越大 → 步长越大 → 量化越粗 → 存储越小；换码率只是换一个输入，不再重新训练。</a:t>
            </a:r>
            <a:endParaRPr lang="en-US" sz="1350" dirty="0"/>
          </a:p>
          <a:p>
            <a:pPr marL="152400" indent="-1524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训练时一次混入 4 个 λ（1e-3 / 2e-3 / 3e-3 / 4e-3），损失 = 渲染损失 + λ × 锚点码率估计，四个码率共用一套参数。</a:t>
            </a:r>
            <a:endParaRPr lang="en-US" sz="1350" dirty="0"/>
          </a:p>
          <a:p>
            <a:pPr marL="152400" indent="-1524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单模型扫 16 个码点，RD 曲线（各存储档位下的画质曲线）与逐码点单独训练的模型基本重合（论文图 4）。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852160" y="4526280"/>
            <a:ext cx="5788152" cy="1234440"/>
          </a:xfrm>
          <a:prstGeom prst="roundRect">
            <a:avLst>
              <a:gd name="adj" fmla="val 5185"/>
            </a:avLst>
          </a:prstGeom>
          <a:solidFill>
            <a:srgbClr val="EDF7F4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080760" y="4526280"/>
            <a:ext cx="5349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意义：</a:t>
            </a:r>
            <a:r>
              <a:rPr lang="en-US" sz="135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多码率的成本从「重新训练一次」降到「前向一次」。HAC、Context-GS 仍是一个 λ 训一个模型，码点越多省得越多。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164592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CDE9E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en-US" sz="10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766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创新点 2 · 双路超先验（hyperprior）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先验从一路变两路：场景无关 + 场景特定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HEMGS 论文研读 · 创新点分析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817352" y="64739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449824" cy="2103120"/>
          </a:xfrm>
          <a:prstGeom prst="roundRect">
            <a:avLst>
              <a:gd name="adj" fmla="val 3043"/>
            </a:avLst>
          </a:prstGeom>
          <a:solidFill>
            <a:srgbClr val="EDF7F4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9019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场景无关网络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77240" y="224942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预训练 PointNet++（点云特征提取网络），所有场景共用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633472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在 3D 点云上预训练好的特征提取器，直接拿来用</a:t>
            </a:r>
            <a:endParaRPr lang="en-US" sz="1280" dirty="0"/>
          </a:p>
          <a:p>
            <a:pPr marL="152400" indent="-1524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不往压缩文件里存参数：跨场景的结构常识是免费的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6190488" y="1737360"/>
            <a:ext cx="5449824" cy="2103120"/>
          </a:xfrm>
          <a:prstGeom prst="roundRect">
            <a:avLst>
              <a:gd name="adj" fmla="val 3043"/>
            </a:avLst>
          </a:prstGeom>
          <a:solidFill>
            <a:srgbClr val="F3F6F8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19088" y="19019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场景特定网络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19088" y="224942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hash grid（哈希网格特征）过拟合当前场景，沿 HAC 做法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19088" y="2633472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参数随场景一起存，捕捉本场景独有的结构关系</a:t>
            </a:r>
            <a:endParaRPr lang="en-US" sz="1280" dirty="0"/>
          </a:p>
          <a:p>
            <a:pPr marL="152400" indent="-1524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与 HAC 的用法一致，保证基线能力不丢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3F6F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48640" y="40690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两路特征融合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785616" y="4352544"/>
            <a:ext cx="45720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297680" y="4069080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3F6F8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297680" y="40690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条件分布估得更准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34656" y="4352544"/>
            <a:ext cx="45720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046720" y="4069080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3F6F8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046720" y="40690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算术编码更省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937760"/>
            <a:ext cx="11091672" cy="1280160"/>
          </a:xfrm>
          <a:prstGeom prst="roundRect">
            <a:avLst>
              <a:gd name="adj" fmla="val 5000"/>
            </a:avLst>
          </a:prstGeom>
          <a:solidFill>
            <a:srgbClr val="EDF7F4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77240" y="493776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配合渐进编码：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压缩缩放 / 偏移时，已解码的局部特征也并入先验，分布变成 p(缩放/偏移 | 位置, 局部特征)。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消融：</a:t>
            </a:r>
            <a:r>
              <a:rPr lang="en-US" sz="130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去掉场景无关网络，playroom 场景存储 +6.95%、画质基本不动——预训练特征是零成本拿到的增益。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7112" y="164592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CDE9E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en-US" sz="10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766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创新点 3 · 自回归网络 + 自适应上下文选择（ACS）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感受野跟着疏密走：稀疏就看得宽，密集就看得近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HEMGS 论文研读 · 创新点分析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817352" y="64739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F3F6F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664208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为什么必须重做：</a:t>
            </a:r>
            <a:r>
              <a:rPr lang="en-US" sz="130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图像压缩的 5×5×5 固定邻域，放到 3D 锚点上平均只框到 0.43 个锚点——上下文几乎是空的，没法照搬。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5486400" cy="640080"/>
          </a:xfrm>
          <a:prstGeom prst="roundRect">
            <a:avLst>
              <a:gd name="adj" fmla="val 10000"/>
            </a:avLst>
          </a:prstGeom>
          <a:solidFill>
            <a:srgbClr val="EDF7F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85800" y="263347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定最大感受野 25×25×25（体素级），数框内已编码的邻居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56232" y="3300984"/>
            <a:ext cx="0" cy="201168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736592" y="3300984"/>
            <a:ext cx="0" cy="201168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48640" y="3529584"/>
            <a:ext cx="2615184" cy="1600200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1520" y="36941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稀疏：不足 20 个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0690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全部保留当上下文，保证看得够宽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419856" y="3529584"/>
            <a:ext cx="2615184" cy="1600200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602736" y="36941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密集：超过 20 个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02736" y="406908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只取最近的 20 个，感受野收缩到最小包围盒，聚焦最相关邻居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0" y="25603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90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5.76 个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400800" y="3090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上下文锚点平均数；5×5×5 邻域只剩 0.43 个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0" y="3566160"/>
            <a:ext cx="5029200" cy="0"/>
          </a:xfrm>
          <a:prstGeom prst="line">
            <a:avLst/>
          </a:prstGeom>
          <a:noFill/>
          <a:ln w="12700">
            <a:solidFill>
              <a:srgbClr val="D8E4E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00800" y="3703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3.54 → 3.75 MB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400800" y="4133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去掉自适应上下文选择后的存储涨幅（playroom）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0" y="4572000"/>
            <a:ext cx="5029200" cy="0"/>
          </a:xfrm>
          <a:prstGeom prst="line">
            <a:avLst/>
          </a:prstGeom>
          <a:noFill/>
          <a:ln w="12700">
            <a:solidFill>
              <a:srgbClr val="D8E4E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00800" y="4709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再 → 4.01 MB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400800" y="51389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感受野缩回 5×5×5 后还要再涨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486400"/>
            <a:ext cx="11091672" cy="822960"/>
          </a:xfrm>
          <a:prstGeom prst="roundRect">
            <a:avLst>
              <a:gd name="adj" fmla="val 7778"/>
            </a:avLst>
          </a:prstGeom>
          <a:solidFill>
            <a:srgbClr val="F3F6F8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77240" y="5486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8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按栅格顺序逐个编码：</a:t>
            </a:r>
            <a:r>
              <a:rPr lang="en-US" sz="128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当前元素参考同属性里已编码的邻居，得到上下文特征，与先验特征一起出分布。代价：解码必须逐点串行——编解码耗时论文未报告（见评析页）。</a:t>
            </a:r>
            <a:endParaRPr lang="en-US" sz="12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766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拼装逻辑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拼起来：一个熵模型，两条分工线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HEMGS 论文研读 · 创新点分析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17352" y="64739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36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输入（解码端同样可得）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47088"/>
            <a:ext cx="2194560" cy="603504"/>
          </a:xfrm>
          <a:prstGeom prst="roundRect">
            <a:avLst>
              <a:gd name="adj" fmla="val 10606"/>
            </a:avLst>
          </a:prstGeom>
          <a:solidFill>
            <a:srgbClr val="F3F6F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184708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码率超参 λ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15184"/>
            <a:ext cx="2194560" cy="603504"/>
          </a:xfrm>
          <a:prstGeom prst="roundRect">
            <a:avLst>
              <a:gd name="adj" fmla="val 10606"/>
            </a:avLst>
          </a:prstGeom>
          <a:solidFill>
            <a:srgbClr val="F3F6F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261518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已解码的位置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2194560" cy="603504"/>
          </a:xfrm>
          <a:prstGeom prst="roundRect">
            <a:avLst>
              <a:gd name="adj" fmla="val 10606"/>
            </a:avLst>
          </a:prstGeom>
          <a:solidFill>
            <a:srgbClr val="F3F6F8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" y="338328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已解码的局部特征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79776" y="2148840"/>
            <a:ext cx="292608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779776" y="3977640"/>
            <a:ext cx="292608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108960" y="1554480"/>
            <a:ext cx="8531352" cy="1325880"/>
          </a:xfrm>
          <a:prstGeom prst="roundRect">
            <a:avLst>
              <a:gd name="adj" fmla="val 4828"/>
            </a:avLst>
          </a:prstGeom>
          <a:solidFill>
            <a:srgbClr val="EDF7F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291840" y="16642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有损端 · 决定丢多少（量化）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83280" y="2148840"/>
            <a:ext cx="22860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383280" y="21488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变码率预测器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705856" y="2432304"/>
            <a:ext cx="292608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035040" y="2148840"/>
            <a:ext cx="19202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035040" y="21488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量化步长 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991856" y="2432304"/>
            <a:ext cx="292608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321040" y="2148840"/>
            <a:ext cx="30175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321040" y="21488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自适应量化：Round(f/s) × 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108960" y="3063240"/>
            <a:ext cx="8531352" cy="2331720"/>
          </a:xfrm>
          <a:prstGeom prst="roundRect">
            <a:avLst>
              <a:gd name="adj" fmla="val 2745"/>
            </a:avLst>
          </a:prstGeom>
          <a:solidFill>
            <a:srgbClr val="F3F6F8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291840" y="31729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无损端 · 决定每个数花几个比特（熵编码）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83280" y="3611880"/>
            <a:ext cx="28803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474720" y="3611880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超先验网络：场景无关 + 场景特定 → 先验特征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83280" y="4526280"/>
            <a:ext cx="28803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474720" y="4526280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自回归网络（ACS）→ 上下文特征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720840" y="3913632"/>
            <a:ext cx="2011680" cy="914400"/>
          </a:xfrm>
          <a:prstGeom prst="roundRect">
            <a:avLst>
              <a:gd name="adj" fmla="val 7000"/>
            </a:avLst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812280" y="391363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估计分布 p(·| 先验, 上下文)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0216" y="3922776"/>
            <a:ext cx="384048" cy="192024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 flipV="1">
            <a:off x="6300216" y="4617720"/>
            <a:ext cx="384048" cy="18288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8769096" y="4370832"/>
            <a:ext cx="384048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9189720" y="3913632"/>
            <a:ext cx="2240280" cy="914400"/>
          </a:xfrm>
          <a:prstGeom prst="roundRect">
            <a:avLst>
              <a:gd name="adj" fmla="val 7000"/>
            </a:avLst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189720" y="3913632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算术编码 → 码流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5623560"/>
            <a:ext cx="3511296" cy="621792"/>
          </a:xfrm>
          <a:prstGeom prst="roundRect">
            <a:avLst>
              <a:gd name="adj" fmla="val 10294"/>
            </a:avLst>
          </a:prstGeom>
          <a:solidFill>
            <a:srgbClr val="EDF7F4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48640" y="5623560"/>
            <a:ext cx="3511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码率适配 → 变码率预测器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334256" y="5623560"/>
            <a:ext cx="3511296" cy="621792"/>
          </a:xfrm>
          <a:prstGeom prst="roundRect">
            <a:avLst>
              <a:gd name="adj" fmla="val 10294"/>
            </a:avLst>
          </a:prstGeom>
          <a:solidFill>
            <a:srgbClr val="EDF7F4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334256" y="5623560"/>
            <a:ext cx="3511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属性间冗余 → 双路超先验 + 渐进编码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8119872" y="5623560"/>
            <a:ext cx="3511296" cy="621792"/>
          </a:xfrm>
          <a:prstGeom prst="roundRect">
            <a:avLst>
              <a:gd name="adj" fmla="val 10294"/>
            </a:avLst>
          </a:prstGeom>
          <a:solidFill>
            <a:srgbClr val="EDF7F4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119872" y="5623560"/>
            <a:ext cx="3511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属性内冗余 → 自回归上下文（ACS）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766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实验结果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效果：同等画质下，比 HAC 平均再省约 40% 存储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数据来源：论文表 1、表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17352" y="64739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同等 PSNR 下，对比方法比 HEMGS 多花的存储（%）</a:t>
            </a:r>
            <a:endParaRPr lang="en-US" sz="13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920240"/>
          <a:ext cx="6675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96188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BDBR：对 RD 曲线积分得到的平均存储差；数值越高 = 对方在同画质下越费存储。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0" y="19202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590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&gt;100×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7589520" y="2450592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对原始 3DGS 的体积缩小（Mip-NeRF360：744.7 MB → 17.6 MB，画质反而更高）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589520" y="32004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590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46.43%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7589520" y="3730752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Tank&amp;Temples 同 24.4 dB 下对 HAC 的存储节省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589520" y="42519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590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39.34%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7589520" y="4782312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DeepBlending 同 30.3 dB 下对 HAC 的存储节省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589520" y="5349240"/>
            <a:ext cx="4050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四个基准全部达到 SOTA：Mip-NeRF360 / Tank&amp;Temples / DeepBlending / Synthetic-NeRF。RTX3090，训练 6 万次迭代，λ 取 4 个值联合训练。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766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消融实验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拆开看：每个创新点各值多少存储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数据来源：论文表 3–5（playroom，DeepBlending）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17352" y="64739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playroom 场景的压缩文件大小（MB）——每去掉一个模块涨一截</a:t>
            </a:r>
            <a:endParaRPr lang="en-US" sz="13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965960"/>
          <a:ext cx="6126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995160" y="1965960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自适应上下文（ACS）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995160" y="2286000"/>
            <a:ext cx="4645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去掉：3.54 → 3.75 MB；感受野缩回 5×5×5：再涨到 4.01 MB——上下文均值从 5.76 个锚点掉到 0.43 个。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995160" y="3246120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存储构成 vs HAC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95160" y="3566160"/>
            <a:ext cx="4645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位置 -18% / 局部特征 -9% / 缩放 -9% / 偏移 -34%。偏移降得最多：它的先验最全（位置和特征都已解码）。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995160" y="4526280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无损端两个模块都不是摆设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995160" y="4846320"/>
            <a:ext cx="4645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场景无关网络 +6.95%，自回归网络再 +16.10%，累计约 24% 的存储都省在分布估计上。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766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复杂度分析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单模型的账：码点越多，省得越狠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数据来源：论文表 6（DeepBlending，RTX3090）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17352" y="64739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训练时间随码点数 N 的变化——其他方法每个码点都要重新训练</a:t>
            </a:r>
            <a:endParaRPr lang="en-US" sz="13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965960"/>
          <a:ext cx="685800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726680" y="1965960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N=16 时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26680" y="2286000"/>
            <a:ext cx="3913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训练：Context-GS 80 小时、HAC 8 小时、HEMGS 1 小时；模型文件：5.06 / 2.51 / 0.236 MB。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26680" y="3246120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交叉点在 N≈2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26680" y="3566160"/>
            <a:ext cx="3913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只要需要 2 个以上码点，单模型在训练时间和模型文件上双赢。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26680" y="4526280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诚实的一笔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26680" y="4846320"/>
            <a:ext cx="3913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N=1 时 HAC 的模型文件更小（0.157 vs 0.236 MB）：单模型的收益来自「多码点」这个真实需求。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766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创新点评析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评析：组件都有出处，赢在针对 3DGS 的适配和完整系统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HEMGS 论文研读 · 创新点分析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17352" y="64739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093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模块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834640" y="160934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来源与适配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955280" y="16093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判定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1938528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变码率预测器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34640" y="1938528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来源：NIC 里 λ 条件化的变码率思路。适配：落到「λ 学量化步长」，λ 同时进损失加权。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955280" y="1938528"/>
            <a:ext cx="3685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机制不新，但部署痛点解得干净，实用性最强。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27248"/>
            <a:ext cx="11091672" cy="0"/>
          </a:xfrm>
          <a:prstGeom prst="line">
            <a:avLst/>
          </a:prstGeom>
          <a:noFill/>
          <a:ln w="12700">
            <a:solidFill>
              <a:srgbClr val="D8E4E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" y="3218688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双路超先验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34640" y="3218688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来源：超先验是 2018 年起图像压缩的标准件。适配：场景无关路用冻结的预训练 PointNet++，零存储。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955280" y="3218688"/>
            <a:ext cx="3685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增量最小，但零成本白拿 6.95%，性价比高。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07408"/>
            <a:ext cx="11091672" cy="0"/>
          </a:xfrm>
          <a:prstGeom prst="line">
            <a:avLst/>
          </a:prstGeom>
          <a:noFill/>
          <a:ln w="12700">
            <a:solidFill>
              <a:srgbClr val="D8E4E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4498848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自回归 + ACS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834640" y="4498848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来源：自回归上下文也是标准件。适配：25×25×25 大感受野 + 按疏密取最近 20 个，是锚点稀疏性逼出来的真改动。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955280" y="4498848"/>
            <a:ext cx="3685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消融贡献最大（+16.10%）；逐点串行编解码的耗时没报，是最明显的未交代项。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779008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EDF7F4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77240" y="5779008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总评：</a:t>
            </a:r>
            <a:r>
              <a:rPr lang="en-US" sz="128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单看每一件都不是首创；贡献在三处有的放矢的适配、完整的系统，以及变码率这个部署卖点。对比实验止步于 HAC / Context-GS 一代。</a:t>
            </a:r>
            <a:endParaRPr lang="en-US" sz="12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766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启发与下一步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对我们课题的四点启发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HEMGS 论文研读 · 创新点分析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817352" y="64739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1051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5568" y="1783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码率感知路线被背书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5568" y="213055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「把码率变量喂进网络」已被证明可行且省训练。我们期刊版的码率感知剪枝可以讲同一个卖点：一个模型覆盖多码点。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5568" y="29443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熵模型还有两块免费增益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32918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HAC++ 沿用 HAC 的场景特定 hash grid；场景无关先验和 ACS 式上下文我们还没用上，可作为正交叠加的改进点。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3308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410565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复杂度表值得抄作业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15568" y="44531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「训练时间 ×N 对 ×1」（表 6）说服力很强，我们的实验章可以补一张同款。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29437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48640" y="5294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15568" y="526694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F4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它的局限对我们是好消息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15568" y="561441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HEMGS 只支持锚点结构，而我们就在锚点框架（Scaffold-GS / HAC++）上：可以直接公平对比，也能把它的熵模型叠到我们的剪枝管线上。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5120640"/>
            <a:ext cx="2194560" cy="2194560"/>
          </a:xfrm>
          <a:prstGeom prst="ellipse">
            <a:avLst/>
          </a:prstGeom>
          <a:solidFill>
            <a:srgbClr val="0F766E">
              <a:alpha val="22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22960" y="5852160"/>
            <a:ext cx="1280160" cy="1280160"/>
          </a:xfrm>
          <a:prstGeom prst="ellipse">
            <a:avLst/>
          </a:prstGeom>
          <a:solidFill>
            <a:srgbClr val="5EEAD4">
              <a:alpha val="28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881360" y="365760"/>
            <a:ext cx="1463040" cy="1463040"/>
          </a:xfrm>
          <a:prstGeom prst="ellipse">
            <a:avLst/>
          </a:prstGeom>
          <a:solidFill>
            <a:srgbClr val="0F766E">
              <a:alpha val="24000"/>
            </a:srgbClr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总结与讨论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88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多码率从 N 次训练变成一次输入；无损端从单路先验升级为双路先验加自适应上下文。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EEAD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≈40%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063240" y="33649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9FC2B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同等画质下对 HAC 的平均存储节省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9FC2B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四个基准：Mip-NeRF360 / Tank&amp;Temples / DeepBlending / Synthetic-NeRF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480560"/>
            <a:ext cx="11091672" cy="1417320"/>
          </a:xfrm>
          <a:prstGeom prst="roundRect">
            <a:avLst>
              <a:gd name="adj" fmla="val 4516"/>
            </a:avLst>
          </a:prstGeom>
          <a:solidFill>
            <a:srgbClr val="1240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留给组会讨论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9834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2F8F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期刊版要不要补变码率 / 多码点实验和复杂度表？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2F8F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场景无关先验（预训练点云特征）值不值得先做个快速验证？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2B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HEMGS · arXiv 2411.18473v2 · 组会汇报 2026-09-13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HEMGS 论文创新点分析</dc:title>
  <dc:subject>PptxGenJS Presentation</dc:subject>
  <dc:creator>Group Meeting</dc:creator>
  <cp:lastModifiedBy>Group Meeting</cp:lastModifiedBy>
  <cp:revision>1</cp:revision>
  <dcterms:created xsi:type="dcterms:W3CDTF">2026-09-13T16:30:05Z</dcterms:created>
  <dcterms:modified xsi:type="dcterms:W3CDTF">2026-09-13T16:30:05Z</dcterms:modified>
</cp:coreProperties>
</file>